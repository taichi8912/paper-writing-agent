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09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450" y="608648"/>
            <a:ext cx="7139928" cy="962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9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paper-writing-agent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2025" y="1435894"/>
            <a:ext cx="967986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dirty="0">
                <a:solidFill>
                  <a:srgbClr val="93C5FD"/>
                </a:solidFill>
                <a:latin typeface="Segoe UI"/>
                <a:ea typeface="Segoe UI"/>
                <a:cs typeface="Segoe UI"/>
              </a:rPr>
              <a:t>Evidence-grounded, anti-AI-slop manuscript writing for CS &amp; software papers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070" y="2805112"/>
            <a:ext cx="101002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Write papers that read as precise human work, and pass review.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34290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3737" y="3909536"/>
            <a:ext cx="634184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Objective: maximize acceptance at high-impact venues.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737" y="4271486"/>
            <a:ext cx="722435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 hybrid: a deterministic Python core plus a Claude Code plugin.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737" y="4633436"/>
            <a:ext cx="536653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The tool lints its own prose with its own rules.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5715000"/>
            <a:ext cx="4095750" cy="419100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4288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73099" y="5821204"/>
            <a:ext cx="341107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pip install paper-writing-agent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9999" y="5829300"/>
            <a:ext cx="43971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1044149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The problem: AI-assisted writing leaves fingerprints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44499" y="1258729"/>
            <a:ext cx="6199943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Reviewers penalize the tells. Four recurring failure modes: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1714500"/>
            <a:ext cx="4953000" cy="171450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952500" y="1714500"/>
            <a:ext cx="66675" cy="171450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48156" y="1958340"/>
            <a:ext cx="38527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1. AI vocabulary and structure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0061" y="2341721"/>
            <a:ext cx="410053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delve, underscore, pivotal, em dashes, the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061" y="2589371"/>
            <a:ext cx="382932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rule of three. Read as machine-written.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714500"/>
            <a:ext cx="4953000" cy="171450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1714500"/>
            <a:ext cx="66675" cy="171450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82156" y="1958340"/>
            <a:ext cx="3385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2. Over-claimed statistics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4061" y="2341721"/>
            <a:ext cx="39128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Bare P-values; "significant" with no test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4061" y="2589371"/>
            <a:ext cx="22109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and no explicit verdict.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3733800"/>
            <a:ext cx="4953000" cy="171450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952500" y="3733800"/>
            <a:ext cx="66675" cy="171450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48156" y="3977640"/>
            <a:ext cx="3079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3. Hallucinated citations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0061" y="4361021"/>
            <a:ext cx="40112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Invented keys; references that do not say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0061" y="4608671"/>
            <a:ext cx="24891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what the sentence claims.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3733800"/>
            <a:ext cx="4953000" cy="171450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3733800"/>
            <a:ext cx="66675" cy="171450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82156" y="3977640"/>
            <a:ext cx="39833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4. Untraceable and inconsistent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84061" y="4361021"/>
            <a:ext cx="37044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Undefined terms, forward references,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4061" y="4608671"/>
            <a:ext cx="23260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numbers with no source.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2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61848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Objective and quality hierarchy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428750"/>
            <a:ext cx="10287000" cy="819150"/>
          </a:xfrm>
          <a:prstGeom prst="roundRect">
            <a:avLst>
              <a:gd name="adj" fmla="val 11628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47394" y="1656398"/>
            <a:ext cx="130957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93C5FD"/>
                </a:solidFill>
                <a:latin typeface="Segoe UI"/>
                <a:ea typeface="Segoe UI"/>
                <a:cs typeface="Segoe UI"/>
              </a:rPr>
              <a:t>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9680" y="1952625"/>
            <a:ext cx="62717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Maximize the probability of acceptance at a high-impact venue.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4118" y="2584132"/>
            <a:ext cx="50555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When two goals conflict, the earlier one wins: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2971800"/>
            <a:ext cx="8572500" cy="60960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4288">
            <a:solidFill>
              <a:srgbClr val="A7F3D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28344" y="3142298"/>
            <a:ext cx="162980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1. Accuracy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83380" y="319087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every claim is factual and backed by data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52500" y="3695700"/>
            <a:ext cx="7810500" cy="60960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4288">
            <a:solidFill>
              <a:srgbClr val="A7F3D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228344" y="3866198"/>
            <a:ext cx="133966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2. Clarity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3380" y="3914775"/>
            <a:ext cx="42254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an expert understands it on the first read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4419600"/>
            <a:ext cx="7048500" cy="6096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228344" y="4590098"/>
            <a:ext cx="20145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3. Conciseness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3380" y="4638675"/>
            <a:ext cx="34682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no redundant words or expressions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52500" y="5143500"/>
            <a:ext cx="6286500" cy="6096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228344" y="5313998"/>
            <a:ext cx="253755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4. Professionalism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83380" y="5362575"/>
            <a:ext cx="33066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an appropriate academic register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4880" y="6010275"/>
            <a:ext cx="72208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i="1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Accuracy is never traded for brevity; clarity is never traded for polish.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3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3767040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Eight design pillars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42875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123950" y="16192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19948" y="16859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0487" y="1642586"/>
            <a:ext cx="225600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Evidence grounding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2392" y="2025968"/>
            <a:ext cx="29913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Every claim resolves to a source.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42875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457950" y="16192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553948" y="16859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4487" y="1642586"/>
            <a:ext cx="146815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Anti-AI-slop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6392" y="2025968"/>
            <a:ext cx="35363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Remove fingerprints; precise register.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262890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123950" y="28194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19948" y="28860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10487" y="2842736"/>
            <a:ext cx="232897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Statistical honesty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2392" y="3226118"/>
            <a:ext cx="3563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Significance needs a test and a verdict.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262890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457950" y="28194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553948" y="28860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44487" y="2842736"/>
            <a:ext cx="267096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Single source of truth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46392" y="3226118"/>
            <a:ext cx="3073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One owner per rule and per state.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52500" y="382905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1123950" y="40195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219948" y="40862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10487" y="4042886"/>
            <a:ext cx="27814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Plan, confirm, execute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12392" y="4426268"/>
            <a:ext cx="28525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Verify after. The user decides.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86500" y="382905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57950" y="40195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53948" y="40862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4487" y="4042886"/>
            <a:ext cx="179196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Reproducibility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6392" y="4426268"/>
            <a:ext cx="34457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Re-runnable stats; auditable changes.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52500" y="502920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1123950" y="52197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219948" y="52863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10487" y="5243036"/>
            <a:ext cx="274393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Configurable, not rigid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12392" y="5626418"/>
            <a:ext cx="35003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Venue, style, strictness are settings.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5029200"/>
            <a:ext cx="4953000" cy="1066800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457950" y="52197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553948" y="52863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44487" y="5243036"/>
            <a:ext cx="130488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Dogfooding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46392" y="5626418"/>
            <a:ext cx="28458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The project lints its own prose.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4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785731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Technical core I: the anti-AI-slop linter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44499" y="1258729"/>
            <a:ext cx="660632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Deterministic detection with a suggested fix for every finding.</a:t>
            </a:r>
          </a:p>
        </p:txBody>
      </p:sp>
      <p:sp>
        <p:nvSpPr>
          <p:cNvPr id="7" name="Ellipse 7"/>
          <p:cNvSpPr/>
          <p:nvPr/>
        </p:nvSpPr>
        <p:spPr>
          <a:xfrm>
            <a:off x="1009650" y="18097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48918" y="1755458"/>
            <a:ext cx="261293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Three vocabulary tiers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0061" y="2055971"/>
            <a:ext cx="490623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forbidden, replace-with-alternative, filler phrases</a:t>
            </a:r>
          </a:p>
        </p:txBody>
      </p:sp>
      <p:sp>
        <p:nvSpPr>
          <p:cNvPr id="10" name="Ellipse 10"/>
          <p:cNvSpPr/>
          <p:nvPr/>
        </p:nvSpPr>
        <p:spPr>
          <a:xfrm>
            <a:off x="1009650" y="26098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48918" y="2555558"/>
            <a:ext cx="234469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Structural patterns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061" y="2856071"/>
            <a:ext cx="3486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copula avoidance, participle padding,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0061" y="3084671"/>
            <a:ext cx="36401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negative parallelism, the rule of three</a:t>
            </a:r>
          </a:p>
        </p:txBody>
      </p:sp>
      <p:sp>
        <p:nvSpPr>
          <p:cNvPr id="14" name="Ellipse 14"/>
          <p:cNvSpPr/>
          <p:nvPr/>
        </p:nvSpPr>
        <p:spPr>
          <a:xfrm>
            <a:off x="1009650" y="36004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48918" y="3546158"/>
            <a:ext cx="428122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Em dashes: zero tolerance by default</a:t>
            </a:r>
          </a:p>
        </p:txBody>
      </p:sp>
      <p:sp>
        <p:nvSpPr>
          <p:cNvPr id="16" name="Ellipse 16"/>
          <p:cNvSpPr/>
          <p:nvPr/>
        </p:nvSpPr>
        <p:spPr>
          <a:xfrm>
            <a:off x="1009650" y="4095750"/>
            <a:ext cx="114300" cy="1143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48918" y="4041458"/>
            <a:ext cx="9102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Masking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0061" y="4341971"/>
            <a:ext cx="42635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code, math, and citations are never flagged;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0061" y="4570571"/>
            <a:ext cx="40046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offsets are preserved for exact locations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145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97980" y="1876425"/>
            <a:ext cx="7215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Before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98361" y="2246471"/>
            <a:ext cx="35797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We delve into a pivotal, novel method,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98361" y="2494121"/>
            <a:ext cx="364972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leveraging a robust pipeline to enhance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98361" y="2741771"/>
            <a:ext cx="11750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throughput.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63524" y="3319462"/>
            <a:ext cx="1894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37338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4288">
            <a:solidFill>
              <a:srgbClr val="A7F3D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697980" y="3895725"/>
            <a:ext cx="604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After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98361" y="4265771"/>
            <a:ext cx="328274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We study a new method that uses 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98361" y="4513421"/>
            <a:ext cx="38127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reliable pipeline to increase throughput.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52500" y="5334000"/>
            <a:ext cx="10287000" cy="7620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4288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173480" y="55149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pwa lint &lt;paths&gt;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3861" y="5789771"/>
            <a:ext cx="87141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errors fail the run; warnings advise; --format json for tooling; the rules ship in the linter.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5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792377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Technical core II: honesty and grounding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428750"/>
            <a:ext cx="4953000" cy="466725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09294" y="1656398"/>
            <a:ext cx="263274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Statistical honesty</a:t>
            </a:r>
          </a:p>
        </p:txBody>
      </p:sp>
      <p:sp>
        <p:nvSpPr>
          <p:cNvPr id="8" name="Ellipse 8"/>
          <p:cNvSpPr/>
          <p:nvPr/>
        </p:nvSpPr>
        <p:spPr>
          <a:xfrm>
            <a:off x="1276350" y="22669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16761" y="2236946"/>
            <a:ext cx="366219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Every P-value needs an explicit verdict</a:t>
            </a:r>
          </a:p>
        </p:txBody>
      </p:sp>
      <p:sp>
        <p:nvSpPr>
          <p:cNvPr id="10" name="Ellipse 10"/>
          <p:cNvSpPr/>
          <p:nvPr/>
        </p:nvSpPr>
        <p:spPr>
          <a:xfrm>
            <a:off x="1276350" y="26860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16761" y="2656046"/>
            <a:ext cx="396321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Name a statistical test once, at first use</a:t>
            </a:r>
          </a:p>
        </p:txBody>
      </p:sp>
      <p:sp>
        <p:nvSpPr>
          <p:cNvPr id="12" name="Ellipse 12"/>
          <p:cNvSpPr/>
          <p:nvPr/>
        </p:nvSpPr>
        <p:spPr>
          <a:xfrm>
            <a:off x="1276350" y="31051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16761" y="3075146"/>
            <a:ext cx="30515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Notation follows the house style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219200" y="3543300"/>
            <a:ext cx="4419600" cy="819150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4288">
            <a:solidFill>
              <a:srgbClr val="A7F3D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402842" y="3702368"/>
            <a:ext cx="8592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Accepted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2461" y="3999071"/>
            <a:ext cx="41881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significant (P = 2.6 × 10⁻⁵; Welch's t-test)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219200" y="4476750"/>
            <a:ext cx="4419600" cy="81915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402842" y="4635818"/>
            <a:ext cx="7062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Flagged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2461" y="4932521"/>
            <a:ext cx="41997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"... higher than B (P = 0.01)." (no verdict)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1961" y="5561171"/>
            <a:ext cx="183737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pwa stats &lt;paths&gt;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428750"/>
            <a:ext cx="4953000" cy="466725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543294" y="1656398"/>
            <a:ext cx="248112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Citation grounding</a:t>
            </a:r>
          </a:p>
        </p:txBody>
      </p:sp>
      <p:sp>
        <p:nvSpPr>
          <p:cNvPr id="23" name="Ellipse 23"/>
          <p:cNvSpPr/>
          <p:nvPr/>
        </p:nvSpPr>
        <p:spPr>
          <a:xfrm>
            <a:off x="6610350" y="22669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850761" y="2236946"/>
            <a:ext cx="4013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BibTeX becomes a searchable context index</a:t>
            </a:r>
          </a:p>
        </p:txBody>
      </p:sp>
      <p:sp>
        <p:nvSpPr>
          <p:cNvPr id="25" name="Ellipse 25"/>
          <p:cNvSpPr/>
          <p:nvPr/>
        </p:nvSpPr>
        <p:spPr>
          <a:xfrm>
            <a:off x="6610350" y="26860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850761" y="2656046"/>
            <a:ext cx="358510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JSON-Schema anti-hallucination gates</a:t>
            </a:r>
          </a:p>
        </p:txBody>
      </p:sp>
      <p:sp>
        <p:nvSpPr>
          <p:cNvPr id="27" name="Ellipse 27"/>
          <p:cNvSpPr/>
          <p:nvPr/>
        </p:nvSpPr>
        <p:spPr>
          <a:xfrm>
            <a:off x="6610350" y="31051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50761" y="3075146"/>
            <a:ext cx="407831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Coverage, no placeholders, no slop in prose</a:t>
            </a:r>
          </a:p>
        </p:txBody>
      </p:sp>
      <p:sp>
        <p:nvSpPr>
          <p:cNvPr id="29" name="Ellipse 29"/>
          <p:cNvSpPr/>
          <p:nvPr/>
        </p:nvSpPr>
        <p:spPr>
          <a:xfrm>
            <a:off x="6610350" y="3524250"/>
            <a:ext cx="114300" cy="1143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850761" y="3494246"/>
            <a:ext cx="3924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Ground keys in real prior usage (verified)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553200" y="3924300"/>
            <a:ext cx="4419600" cy="81915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 w="14288">
            <a:solidFill>
              <a:srgbClr val="FECAC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736842" y="4083368"/>
            <a:ext cx="17184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Never invent a key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6461" y="4380071"/>
            <a:ext cx="40740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If none fits: leave % TODO: cite -- &lt;claim&gt;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5961" y="5561171"/>
            <a:ext cx="31567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pwa bib build / validate / ground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6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74347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Architecture: a hybrid you can verify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44499" y="1258729"/>
            <a:ext cx="733508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The plugin orchestrates; the core decides. The rules are unit-tested.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0" y="1714500"/>
            <a:ext cx="8382000" cy="142875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93C5FD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181606" y="1882140"/>
            <a:ext cx="422061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Claude Code plugin (agentic layer)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23241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BFDBF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843798" y="2436971"/>
            <a:ext cx="50365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skills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3241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BFDBF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628236" y="2436971"/>
            <a:ext cx="9352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commands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191250" y="23241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BFDBF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72361" y="2436971"/>
            <a:ext cx="6475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agents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0" y="23241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BFDBF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619144" y="2436971"/>
            <a:ext cx="9544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knowledge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0" y="3143250"/>
            <a:ext cx="9525" cy="647700"/>
          </a:xfrm>
          <a:custGeom>
            <a:avLst/>
            <a:gdLst/>
            <a:ahLst/>
            <a:cxnLst/>
            <a:rect l="l" t="t" r="r" b="b"/>
            <a:pathLst>
              <a:path w="9525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/>
          <a:ln w="28575">
            <a:solidFill>
              <a:srgbClr val="475569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6019800" y="3752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279261" y="3389471"/>
            <a:ext cx="28440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calls the core for every check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905000" y="3905250"/>
            <a:ext cx="8382000" cy="161925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181606" y="4091940"/>
            <a:ext cx="52303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93C5FD"/>
                </a:solidFill>
                <a:latin typeface="Segoe UI"/>
                <a:ea typeface="Segoe UI"/>
                <a:cs typeface="Segoe UI"/>
              </a:rPr>
              <a:t>Python core (deterministic, unit-tested)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190750" y="4552950"/>
            <a:ext cx="12192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4288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639016" y="4683442"/>
            <a:ext cx="322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lint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514725" y="4552950"/>
            <a:ext cx="12192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4288">
            <a:solidFill>
              <a:srgbClr val="33415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867579" y="4683442"/>
            <a:ext cx="5134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stats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838700" y="4552950"/>
            <a:ext cx="12192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4288">
            <a:solidFill>
              <a:srgbClr val="33415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241531" y="4683442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defs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62675" y="4552950"/>
            <a:ext cx="12192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4288">
            <a:solidFill>
              <a:srgbClr val="33415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38201" y="4683442"/>
            <a:ext cx="2681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bib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486650" y="4552950"/>
            <a:ext cx="12192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4288">
            <a:solidFill>
              <a:srgbClr val="334155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712288" y="4683442"/>
            <a:ext cx="7679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sections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810625" y="4552950"/>
            <a:ext cx="12192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4288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163479" y="4683442"/>
            <a:ext cx="5134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check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83892" y="5169218"/>
            <a:ext cx="6498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One shared finding/report format across linters; no editor dependency.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880" y="5819775"/>
            <a:ext cx="88100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Dogfooding: the repository lints its own prose with its own linter, in pre-commit and CI.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7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4533450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Configurable, not rigid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44499" y="1258729"/>
            <a:ext cx="879727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An interactive wizard and three presets. Sensible defaults; everything overridable.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4880" y="1685925"/>
            <a:ext cx="83154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pwa init</a:t>
            </a:r>
          </a:p>
        </p:txBody>
      </p:sp>
      <p:sp>
        <p:nvSpPr>
          <p:cNvPr id="8" name="Rectangle 8"/>
          <p:cNvSpPr/>
          <p:nvPr/>
        </p:nvSpPr>
        <p:spPr>
          <a:xfrm>
            <a:off x="2190750" y="165735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4288">
            <a:solidFill>
              <a:srgbClr val="93C5F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689398" y="1768792"/>
            <a:ext cx="12887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strict-high-IF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629150" y="165735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4288">
            <a:solidFill>
              <a:srgbClr val="BFDBF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197688" y="1768792"/>
            <a:ext cx="7679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balanced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686550" y="165735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4288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327783" y="176879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lenient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2286000"/>
            <a:ext cx="4953000" cy="381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4288">
            <a:solidFill>
              <a:srgbClr val="BFDBF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210056" y="2510790"/>
            <a:ext cx="1718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You configure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1961" y="2970371"/>
            <a:ext cx="25336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Target field and venue tier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961" y="3275171"/>
            <a:ext cx="36854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Citation style (numeric / author-year)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961" y="3579971"/>
            <a:ext cx="16638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Spelling (US / UK)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1961" y="3884771"/>
            <a:ext cx="37612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P-value notation and significant figures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1961" y="4189571"/>
            <a:ext cx="38477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Section structure and figure references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1961" y="4494371"/>
            <a:ext cx="17755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Hedging strictness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961" y="4799171"/>
            <a:ext cx="311059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Operating language (en / zh / ja)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1961" y="5103971"/>
            <a:ext cx="38381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Project-local forbidden-word extensions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2286000"/>
            <a:ext cx="4953000" cy="3810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44056" y="2510790"/>
            <a:ext cx="12097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93C5FD"/>
                </a:solidFill>
                <a:latin typeface="Segoe UI"/>
                <a:ea typeface="Segoe UI"/>
                <a:cs typeface="Segoe UI"/>
              </a:rPr>
              <a:t>Always 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45961" y="2970371"/>
            <a:ext cx="36559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Significance needs a test and a verdict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45961" y="3351371"/>
            <a:ext cx="28980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Citations are never fabricated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5961" y="3732371"/>
            <a:ext cx="333925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No speculative edits to unread files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45961" y="4113371"/>
            <a:ext cx="31186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The user holds decision authority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45961" y="4494371"/>
            <a:ext cx="25051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Accuracy is never demoted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553200" y="5029200"/>
            <a:ext cx="44196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46342" y="5264468"/>
            <a:ext cx="28552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Friendly out of the box; never 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6342" y="5493068"/>
            <a:ext cx="12222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straitjacket.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6404" y="6461760"/>
            <a:ext cx="3517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69930" y="6461760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8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022" y="568642"/>
            <a:ext cx="237871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Get started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10668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524000"/>
            <a:ext cx="10287000" cy="238125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48156" y="1805940"/>
            <a:ext cx="39195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$ pip install paper-writing-agent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8156" y="2339340"/>
            <a:ext cx="24777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 pwa init my-paper/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8156" y="2872740"/>
            <a:ext cx="273222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 pwa check my-paper/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0061" y="3389471"/>
            <a:ext cx="89472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errors block submission; warnings advise; install the Claude Code plugin to drive it agentically.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070" y="4291012"/>
            <a:ext cx="101002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Write papers that read as precise human work, and pass review.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4953000"/>
            <a:ext cx="1028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44118" y="5308282"/>
            <a:ext cx="975108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Open source, MIT. Generic and domain-agnostic: no private or project-specific material.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5772150"/>
            <a:ext cx="6096000" cy="47625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4288">
            <a:solidFill>
              <a:srgbClr val="BFDBF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72337" y="5900261"/>
            <a:ext cx="53086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github.com/taichi8912/paper-writing-agent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69930" y="5956935"/>
            <a:ext cx="375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9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2026-06-29T15:04:04Z</dcterms:created>
  <dcterms:modified xsi:type="dcterms:W3CDTF">2026-06-29T15:04:04Z</dcterms:modified>
  <cp:category/>
  <cp:contentStatus/>
</cp:coreProperties>
</file>